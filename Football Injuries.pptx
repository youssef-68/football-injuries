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webextensions/webextension1.xml" ContentType="application/vnd.ms-office.webextension+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60" r:id="rId4"/>
    <p:sldId id="258" r:id="rId5"/>
    <p:sldId id="268" r:id="rId6"/>
    <p:sldId id="259" r:id="rId7"/>
    <p:sldId id="261" r:id="rId8"/>
    <p:sldId id="262" r:id="rId9"/>
    <p:sldId id="263" r:id="rId10"/>
    <p:sldId id="270" r:id="rId11"/>
    <p:sldId id="271" r:id="rId12"/>
    <p:sldId id="272" r:id="rId13"/>
    <p:sldId id="273" r:id="rId14"/>
    <p:sldId id="266" r:id="rId15"/>
    <p:sldId id="264" r:id="rId16"/>
    <p:sldId id="265" r:id="rId17"/>
    <p:sldId id="267"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يوسف وائل بدوى الغنيمى" userId="113a15ca-4999-48e0-b344-0475eacfcdcd" providerId="ADAL" clId="{FD84B385-C443-4D7E-A604-1DFAD1208536}"/>
    <pc:docChg chg="undo custSel addSld delSld modSld sldOrd">
      <pc:chgData name="يوسف وائل بدوى الغنيمى" userId="113a15ca-4999-48e0-b344-0475eacfcdcd" providerId="ADAL" clId="{FD84B385-C443-4D7E-A604-1DFAD1208536}" dt="2025-09-20T02:24:55.539" v="414" actId="255"/>
      <pc:docMkLst>
        <pc:docMk/>
      </pc:docMkLst>
      <pc:sldChg chg="modSp mod">
        <pc:chgData name="يوسف وائل بدوى الغنيمى" userId="113a15ca-4999-48e0-b344-0475eacfcdcd" providerId="ADAL" clId="{FD84B385-C443-4D7E-A604-1DFAD1208536}" dt="2025-09-20T02:22:28.999" v="402" actId="255"/>
        <pc:sldMkLst>
          <pc:docMk/>
          <pc:sldMk cId="1108083874" sldId="257"/>
        </pc:sldMkLst>
        <pc:spChg chg="mod">
          <ac:chgData name="يوسف وائل بدوى الغنيمى" userId="113a15ca-4999-48e0-b344-0475eacfcdcd" providerId="ADAL" clId="{FD84B385-C443-4D7E-A604-1DFAD1208536}" dt="2025-09-20T02:21:09.515" v="401" actId="255"/>
          <ac:spMkLst>
            <pc:docMk/>
            <pc:sldMk cId="1108083874" sldId="257"/>
            <ac:spMk id="2" creationId="{4BDCE734-B9AC-17BB-8F39-F6AC87979B24}"/>
          </ac:spMkLst>
        </pc:spChg>
        <pc:spChg chg="mod">
          <ac:chgData name="يوسف وائل بدوى الغنيمى" userId="113a15ca-4999-48e0-b344-0475eacfcdcd" providerId="ADAL" clId="{FD84B385-C443-4D7E-A604-1DFAD1208536}" dt="2025-09-20T02:22:28.999" v="402" actId="255"/>
          <ac:spMkLst>
            <pc:docMk/>
            <pc:sldMk cId="1108083874" sldId="257"/>
            <ac:spMk id="3" creationId="{1627087B-6E6A-6BCF-6907-F2BD52321478}"/>
          </ac:spMkLst>
        </pc:spChg>
      </pc:sldChg>
      <pc:sldChg chg="ord">
        <pc:chgData name="يوسف وائل بدوى الغنيمى" userId="113a15ca-4999-48e0-b344-0475eacfcdcd" providerId="ADAL" clId="{FD84B385-C443-4D7E-A604-1DFAD1208536}" dt="2025-09-20T00:23:21.062" v="139"/>
        <pc:sldMkLst>
          <pc:docMk/>
          <pc:sldMk cId="110154069" sldId="258"/>
        </pc:sldMkLst>
      </pc:sldChg>
      <pc:sldChg chg="modSp mod">
        <pc:chgData name="يوسف وائل بدوى الغنيمى" userId="113a15ca-4999-48e0-b344-0475eacfcdcd" providerId="ADAL" clId="{FD84B385-C443-4D7E-A604-1DFAD1208536}" dt="2025-09-20T00:23:37.431" v="140" actId="113"/>
        <pc:sldMkLst>
          <pc:docMk/>
          <pc:sldMk cId="3678972669" sldId="259"/>
        </pc:sldMkLst>
        <pc:spChg chg="mod">
          <ac:chgData name="يوسف وائل بدوى الغنيمى" userId="113a15ca-4999-48e0-b344-0475eacfcdcd" providerId="ADAL" clId="{FD84B385-C443-4D7E-A604-1DFAD1208536}" dt="2025-09-20T00:23:37.431" v="140" actId="113"/>
          <ac:spMkLst>
            <pc:docMk/>
            <pc:sldMk cId="3678972669" sldId="259"/>
            <ac:spMk id="2" creationId="{D2999FA8-4560-B467-B6B7-4E14E6C26206}"/>
          </ac:spMkLst>
        </pc:spChg>
      </pc:sldChg>
      <pc:sldChg chg="modSp new mod">
        <pc:chgData name="يوسف وائل بدوى الغنيمى" userId="113a15ca-4999-48e0-b344-0475eacfcdcd" providerId="ADAL" clId="{FD84B385-C443-4D7E-A604-1DFAD1208536}" dt="2025-09-20T00:23:41.227" v="142" actId="27636"/>
        <pc:sldMkLst>
          <pc:docMk/>
          <pc:sldMk cId="2214695338" sldId="261"/>
        </pc:sldMkLst>
        <pc:spChg chg="mod">
          <ac:chgData name="يوسف وائل بدوى الغنيمى" userId="113a15ca-4999-48e0-b344-0475eacfcdcd" providerId="ADAL" clId="{FD84B385-C443-4D7E-A604-1DFAD1208536}" dt="2025-09-20T00:23:41.227" v="142" actId="27636"/>
          <ac:spMkLst>
            <pc:docMk/>
            <pc:sldMk cId="2214695338" sldId="261"/>
            <ac:spMk id="2" creationId="{DFFA0C46-C8F3-404E-6CFC-ECCF33E1CDE6}"/>
          </ac:spMkLst>
        </pc:spChg>
        <pc:spChg chg="mod">
          <ac:chgData name="يوسف وائل بدوى الغنيمى" userId="113a15ca-4999-48e0-b344-0475eacfcdcd" providerId="ADAL" clId="{FD84B385-C443-4D7E-A604-1DFAD1208536}" dt="2025-09-20T00:00:54.533" v="37" actId="20577"/>
          <ac:spMkLst>
            <pc:docMk/>
            <pc:sldMk cId="2214695338" sldId="261"/>
            <ac:spMk id="3" creationId="{467A6B30-A8AA-3C03-F304-90FF78BC4DB4}"/>
          </ac:spMkLst>
        </pc:spChg>
      </pc:sldChg>
      <pc:sldChg chg="modSp new mod">
        <pc:chgData name="يوسف وائل بدوى الغنيمى" userId="113a15ca-4999-48e0-b344-0475eacfcdcd" providerId="ADAL" clId="{FD84B385-C443-4D7E-A604-1DFAD1208536}" dt="2025-09-20T00:23:45.016" v="143" actId="113"/>
        <pc:sldMkLst>
          <pc:docMk/>
          <pc:sldMk cId="3676198293" sldId="262"/>
        </pc:sldMkLst>
        <pc:spChg chg="mod">
          <ac:chgData name="يوسف وائل بدوى الغنيمى" userId="113a15ca-4999-48e0-b344-0475eacfcdcd" providerId="ADAL" clId="{FD84B385-C443-4D7E-A604-1DFAD1208536}" dt="2025-09-20T00:23:45.016" v="143" actId="113"/>
          <ac:spMkLst>
            <pc:docMk/>
            <pc:sldMk cId="3676198293" sldId="262"/>
            <ac:spMk id="2" creationId="{F7442CF1-2067-FD6B-E7A8-CA618AD01ED5}"/>
          </ac:spMkLst>
        </pc:spChg>
        <pc:spChg chg="mod">
          <ac:chgData name="يوسف وائل بدوى الغنيمى" userId="113a15ca-4999-48e0-b344-0475eacfcdcd" providerId="ADAL" clId="{FD84B385-C443-4D7E-A604-1DFAD1208536}" dt="2025-09-20T00:04:33.859" v="39"/>
          <ac:spMkLst>
            <pc:docMk/>
            <pc:sldMk cId="3676198293" sldId="262"/>
            <ac:spMk id="3" creationId="{B4D8380C-CFDC-ED21-698F-91C1BD769158}"/>
          </ac:spMkLst>
        </pc:spChg>
      </pc:sldChg>
      <pc:sldChg chg="modSp new mod">
        <pc:chgData name="يوسف وائل بدوى الغنيمى" userId="113a15ca-4999-48e0-b344-0475eacfcdcd" providerId="ADAL" clId="{FD84B385-C443-4D7E-A604-1DFAD1208536}" dt="2025-09-20T00:23:51.878" v="144" actId="113"/>
        <pc:sldMkLst>
          <pc:docMk/>
          <pc:sldMk cId="3127825868" sldId="263"/>
        </pc:sldMkLst>
        <pc:spChg chg="mod">
          <ac:chgData name="يوسف وائل بدوى الغنيمى" userId="113a15ca-4999-48e0-b344-0475eacfcdcd" providerId="ADAL" clId="{FD84B385-C443-4D7E-A604-1DFAD1208536}" dt="2025-09-20T00:23:51.878" v="144" actId="113"/>
          <ac:spMkLst>
            <pc:docMk/>
            <pc:sldMk cId="3127825868" sldId="263"/>
            <ac:spMk id="2" creationId="{E2FF00F6-D52C-A769-380E-79D85FEFB86A}"/>
          </ac:spMkLst>
        </pc:spChg>
        <pc:spChg chg="mod">
          <ac:chgData name="يوسف وائل بدوى الغنيمى" userId="113a15ca-4999-48e0-b344-0475eacfcdcd" providerId="ADAL" clId="{FD84B385-C443-4D7E-A604-1DFAD1208536}" dt="2025-09-20T00:07:18.809" v="49" actId="27636"/>
          <ac:spMkLst>
            <pc:docMk/>
            <pc:sldMk cId="3127825868" sldId="263"/>
            <ac:spMk id="3" creationId="{F110ABE3-CD55-35C9-628F-78652981CCBD}"/>
          </ac:spMkLst>
        </pc:spChg>
      </pc:sldChg>
      <pc:sldChg chg="modSp new mod">
        <pc:chgData name="يوسف وائل بدوى الغنيمى" userId="113a15ca-4999-48e0-b344-0475eacfcdcd" providerId="ADAL" clId="{FD84B385-C443-4D7E-A604-1DFAD1208536}" dt="2025-09-20T00:26:36.464" v="166" actId="12"/>
        <pc:sldMkLst>
          <pc:docMk/>
          <pc:sldMk cId="2598240471" sldId="264"/>
        </pc:sldMkLst>
        <pc:spChg chg="mod">
          <ac:chgData name="يوسف وائل بدوى الغنيمى" userId="113a15ca-4999-48e0-b344-0475eacfcdcd" providerId="ADAL" clId="{FD84B385-C443-4D7E-A604-1DFAD1208536}" dt="2025-09-20T00:24:18.332" v="147" actId="113"/>
          <ac:spMkLst>
            <pc:docMk/>
            <pc:sldMk cId="2598240471" sldId="264"/>
            <ac:spMk id="2" creationId="{097DD218-9713-BD11-55BE-B56E648F536F}"/>
          </ac:spMkLst>
        </pc:spChg>
        <pc:spChg chg="mod">
          <ac:chgData name="يوسف وائل بدوى الغنيمى" userId="113a15ca-4999-48e0-b344-0475eacfcdcd" providerId="ADAL" clId="{FD84B385-C443-4D7E-A604-1DFAD1208536}" dt="2025-09-20T00:26:36.464" v="166" actId="12"/>
          <ac:spMkLst>
            <pc:docMk/>
            <pc:sldMk cId="2598240471" sldId="264"/>
            <ac:spMk id="3" creationId="{646FC666-11EA-B544-F54C-AF49F0E5FF28}"/>
          </ac:spMkLst>
        </pc:spChg>
      </pc:sldChg>
      <pc:sldChg chg="modSp new mod">
        <pc:chgData name="يوسف وائل بدوى الغنيمى" userId="113a15ca-4999-48e0-b344-0475eacfcdcd" providerId="ADAL" clId="{FD84B385-C443-4D7E-A604-1DFAD1208536}" dt="2025-09-20T00:18:19.299" v="85" actId="113"/>
        <pc:sldMkLst>
          <pc:docMk/>
          <pc:sldMk cId="1141232192" sldId="265"/>
        </pc:sldMkLst>
        <pc:spChg chg="mod">
          <ac:chgData name="يوسف وائل بدوى الغنيمى" userId="113a15ca-4999-48e0-b344-0475eacfcdcd" providerId="ADAL" clId="{FD84B385-C443-4D7E-A604-1DFAD1208536}" dt="2025-09-20T00:18:19.299" v="85" actId="113"/>
          <ac:spMkLst>
            <pc:docMk/>
            <pc:sldMk cId="1141232192" sldId="265"/>
            <ac:spMk id="2" creationId="{21383595-6B51-9226-2637-FFB18DA9E08A}"/>
          </ac:spMkLst>
        </pc:spChg>
        <pc:spChg chg="mod">
          <ac:chgData name="يوسف وائل بدوى الغنيمى" userId="113a15ca-4999-48e0-b344-0475eacfcdcd" providerId="ADAL" clId="{FD84B385-C443-4D7E-A604-1DFAD1208536}" dt="2025-09-20T00:18:10.654" v="81" actId="20577"/>
          <ac:spMkLst>
            <pc:docMk/>
            <pc:sldMk cId="1141232192" sldId="265"/>
            <ac:spMk id="3" creationId="{1937C966-8858-77A3-0E55-2BD1C941DF56}"/>
          </ac:spMkLst>
        </pc:spChg>
      </pc:sldChg>
      <pc:sldChg chg="modSp new mod">
        <pc:chgData name="يوسف وائل بدوى الغنيمى" userId="113a15ca-4999-48e0-b344-0475eacfcdcd" providerId="ADAL" clId="{FD84B385-C443-4D7E-A604-1DFAD1208536}" dt="2025-09-20T00:43:43.500" v="225" actId="20577"/>
        <pc:sldMkLst>
          <pc:docMk/>
          <pc:sldMk cId="4000609313" sldId="266"/>
        </pc:sldMkLst>
        <pc:spChg chg="mod">
          <ac:chgData name="يوسف وائل بدوى الغنيمى" userId="113a15ca-4999-48e0-b344-0475eacfcdcd" providerId="ADAL" clId="{FD84B385-C443-4D7E-A604-1DFAD1208536}" dt="2025-09-20T00:43:43.500" v="225" actId="20577"/>
          <ac:spMkLst>
            <pc:docMk/>
            <pc:sldMk cId="4000609313" sldId="266"/>
            <ac:spMk id="2" creationId="{AC5A690B-1FAE-200C-567A-CEAA6BAAB958}"/>
          </ac:spMkLst>
        </pc:spChg>
        <pc:spChg chg="mod">
          <ac:chgData name="يوسف وائل بدوى الغنيمى" userId="113a15ca-4999-48e0-b344-0475eacfcdcd" providerId="ADAL" clId="{FD84B385-C443-4D7E-A604-1DFAD1208536}" dt="2025-09-20T00:26:49.043" v="168" actId="255"/>
          <ac:spMkLst>
            <pc:docMk/>
            <pc:sldMk cId="4000609313" sldId="266"/>
            <ac:spMk id="3" creationId="{CD31D373-C805-5A55-0B63-27FFFDE44C81}"/>
          </ac:spMkLst>
        </pc:spChg>
      </pc:sldChg>
      <pc:sldChg chg="modSp new mod">
        <pc:chgData name="يوسف وائل بدوى الغنيمى" userId="113a15ca-4999-48e0-b344-0475eacfcdcd" providerId="ADAL" clId="{FD84B385-C443-4D7E-A604-1DFAD1208536}" dt="2025-09-20T00:21:05.903" v="130" actId="12"/>
        <pc:sldMkLst>
          <pc:docMk/>
          <pc:sldMk cId="1530822257" sldId="267"/>
        </pc:sldMkLst>
        <pc:spChg chg="mod">
          <ac:chgData name="يوسف وائل بدوى الغنيمى" userId="113a15ca-4999-48e0-b344-0475eacfcdcd" providerId="ADAL" clId="{FD84B385-C443-4D7E-A604-1DFAD1208536}" dt="2025-09-20T00:20:55.806" v="123" actId="27636"/>
          <ac:spMkLst>
            <pc:docMk/>
            <pc:sldMk cId="1530822257" sldId="267"/>
            <ac:spMk id="2" creationId="{F8194002-7C44-208A-A90B-02F93908E68A}"/>
          </ac:spMkLst>
        </pc:spChg>
        <pc:spChg chg="mod">
          <ac:chgData name="يوسف وائل بدوى الغنيمى" userId="113a15ca-4999-48e0-b344-0475eacfcdcd" providerId="ADAL" clId="{FD84B385-C443-4D7E-A604-1DFAD1208536}" dt="2025-09-20T00:21:05.903" v="130" actId="12"/>
          <ac:spMkLst>
            <pc:docMk/>
            <pc:sldMk cId="1530822257" sldId="267"/>
            <ac:spMk id="3" creationId="{1B2035FE-9192-4435-B9BD-6B4AF38CB2CE}"/>
          </ac:spMkLst>
        </pc:spChg>
      </pc:sldChg>
      <pc:sldChg chg="modSp new mod">
        <pc:chgData name="يوسف وائل بدوى الغنيمى" userId="113a15ca-4999-48e0-b344-0475eacfcdcd" providerId="ADAL" clId="{FD84B385-C443-4D7E-A604-1DFAD1208536}" dt="2025-09-20T00:26:21.997" v="165" actId="255"/>
        <pc:sldMkLst>
          <pc:docMk/>
          <pc:sldMk cId="2129282956" sldId="268"/>
        </pc:sldMkLst>
        <pc:spChg chg="mod">
          <ac:chgData name="يوسف وائل بدوى الغنيمى" userId="113a15ca-4999-48e0-b344-0475eacfcdcd" providerId="ADAL" clId="{FD84B385-C443-4D7E-A604-1DFAD1208536}" dt="2025-09-20T00:25:02.098" v="154" actId="27636"/>
          <ac:spMkLst>
            <pc:docMk/>
            <pc:sldMk cId="2129282956" sldId="268"/>
            <ac:spMk id="2" creationId="{84C6F51B-1AEE-B7C0-B64F-52BFC4A9618C}"/>
          </ac:spMkLst>
        </pc:spChg>
        <pc:spChg chg="mod">
          <ac:chgData name="يوسف وائل بدوى الغنيمى" userId="113a15ca-4999-48e0-b344-0475eacfcdcd" providerId="ADAL" clId="{FD84B385-C443-4D7E-A604-1DFAD1208536}" dt="2025-09-20T00:26:21.997" v="165" actId="255"/>
          <ac:spMkLst>
            <pc:docMk/>
            <pc:sldMk cId="2129282956" sldId="268"/>
            <ac:spMk id="3" creationId="{C50A48F8-1BFB-DA2A-7DFB-18DA811C69BB}"/>
          </ac:spMkLst>
        </pc:spChg>
      </pc:sldChg>
      <pc:sldChg chg="modSp new mod">
        <pc:chgData name="يوسف وائل بدوى الغنيمى" userId="113a15ca-4999-48e0-b344-0475eacfcdcd" providerId="ADAL" clId="{FD84B385-C443-4D7E-A604-1DFAD1208536}" dt="2025-09-20T00:45:30.396" v="267" actId="255"/>
        <pc:sldMkLst>
          <pc:docMk/>
          <pc:sldMk cId="4201757248" sldId="269"/>
        </pc:sldMkLst>
        <pc:spChg chg="mod">
          <ac:chgData name="يوسف وائل بدوى الغنيمى" userId="113a15ca-4999-48e0-b344-0475eacfcdcd" providerId="ADAL" clId="{FD84B385-C443-4D7E-A604-1DFAD1208536}" dt="2025-09-20T00:45:30.396" v="267" actId="255"/>
          <ac:spMkLst>
            <pc:docMk/>
            <pc:sldMk cId="4201757248" sldId="269"/>
            <ac:spMk id="2" creationId="{C5C64841-62BF-CFA3-514B-ABDB4B90CA44}"/>
          </ac:spMkLst>
        </pc:spChg>
      </pc:sldChg>
      <pc:sldChg chg="modSp new mod">
        <pc:chgData name="يوسف وائل بدوى الغنيمى" userId="113a15ca-4999-48e0-b344-0475eacfcdcd" providerId="ADAL" clId="{FD84B385-C443-4D7E-A604-1DFAD1208536}" dt="2025-09-20T02:24:55.539" v="414" actId="255"/>
        <pc:sldMkLst>
          <pc:docMk/>
          <pc:sldMk cId="2095957788" sldId="270"/>
        </pc:sldMkLst>
        <pc:spChg chg="mod">
          <ac:chgData name="يوسف وائل بدوى الغنيمى" userId="113a15ca-4999-48e0-b344-0475eacfcdcd" providerId="ADAL" clId="{FD84B385-C443-4D7E-A604-1DFAD1208536}" dt="2025-09-20T02:12:42.720" v="380" actId="20577"/>
          <ac:spMkLst>
            <pc:docMk/>
            <pc:sldMk cId="2095957788" sldId="270"/>
            <ac:spMk id="2" creationId="{F47C41AF-23D5-88C8-3CE0-B04E718A333B}"/>
          </ac:spMkLst>
        </pc:spChg>
        <pc:spChg chg="mod">
          <ac:chgData name="يوسف وائل بدوى الغنيمى" userId="113a15ca-4999-48e0-b344-0475eacfcdcd" providerId="ADAL" clId="{FD84B385-C443-4D7E-A604-1DFAD1208536}" dt="2025-09-20T02:24:55.539" v="414" actId="255"/>
          <ac:spMkLst>
            <pc:docMk/>
            <pc:sldMk cId="2095957788" sldId="270"/>
            <ac:spMk id="3" creationId="{E56BCA22-6606-9E90-A2F5-0C9B136BB537}"/>
          </ac:spMkLst>
        </pc:spChg>
      </pc:sldChg>
      <pc:sldChg chg="modSp new mod">
        <pc:chgData name="يوسف وائل بدوى الغنيمى" userId="113a15ca-4999-48e0-b344-0475eacfcdcd" providerId="ADAL" clId="{FD84B385-C443-4D7E-A604-1DFAD1208536}" dt="2025-09-20T02:04:55.238" v="337" actId="27636"/>
        <pc:sldMkLst>
          <pc:docMk/>
          <pc:sldMk cId="1616159816" sldId="271"/>
        </pc:sldMkLst>
        <pc:spChg chg="mod">
          <ac:chgData name="يوسف وائل بدوى الغنيمى" userId="113a15ca-4999-48e0-b344-0475eacfcdcd" providerId="ADAL" clId="{FD84B385-C443-4D7E-A604-1DFAD1208536}" dt="2025-09-20T01:44:59.668" v="285" actId="120"/>
          <ac:spMkLst>
            <pc:docMk/>
            <pc:sldMk cId="1616159816" sldId="271"/>
            <ac:spMk id="2" creationId="{35F4DACE-5118-2CBF-A9D5-BA1DEE96542B}"/>
          </ac:spMkLst>
        </pc:spChg>
        <pc:spChg chg="mod">
          <ac:chgData name="يوسف وائل بدوى الغنيمى" userId="113a15ca-4999-48e0-b344-0475eacfcdcd" providerId="ADAL" clId="{FD84B385-C443-4D7E-A604-1DFAD1208536}" dt="2025-09-20T02:04:55.238" v="337" actId="27636"/>
          <ac:spMkLst>
            <pc:docMk/>
            <pc:sldMk cId="1616159816" sldId="271"/>
            <ac:spMk id="3" creationId="{23E477A5-5BB2-E512-DFC6-7F442AED0971}"/>
          </ac:spMkLst>
        </pc:spChg>
      </pc:sldChg>
      <pc:sldChg chg="modSp new mod">
        <pc:chgData name="يوسف وائل بدوى الغنيمى" userId="113a15ca-4999-48e0-b344-0475eacfcdcd" providerId="ADAL" clId="{FD84B385-C443-4D7E-A604-1DFAD1208536}" dt="2025-09-20T02:12:02.901" v="376" actId="27636"/>
        <pc:sldMkLst>
          <pc:docMk/>
          <pc:sldMk cId="1330226093" sldId="272"/>
        </pc:sldMkLst>
        <pc:spChg chg="mod">
          <ac:chgData name="يوسف وائل بدوى الغنيمى" userId="113a15ca-4999-48e0-b344-0475eacfcdcd" providerId="ADAL" clId="{FD84B385-C443-4D7E-A604-1DFAD1208536}" dt="2025-09-20T02:05:51.960" v="340"/>
          <ac:spMkLst>
            <pc:docMk/>
            <pc:sldMk cId="1330226093" sldId="272"/>
            <ac:spMk id="2" creationId="{2709A0EB-A4FC-49A2-14AE-B36180556E6F}"/>
          </ac:spMkLst>
        </pc:spChg>
        <pc:spChg chg="mod">
          <ac:chgData name="يوسف وائل بدوى الغنيمى" userId="113a15ca-4999-48e0-b344-0475eacfcdcd" providerId="ADAL" clId="{FD84B385-C443-4D7E-A604-1DFAD1208536}" dt="2025-09-20T02:12:02.901" v="376" actId="27636"/>
          <ac:spMkLst>
            <pc:docMk/>
            <pc:sldMk cId="1330226093" sldId="272"/>
            <ac:spMk id="3" creationId="{D0084D61-0DE2-BDB1-07F8-E17141487874}"/>
          </ac:spMkLst>
        </pc:spChg>
      </pc:sldChg>
      <pc:sldChg chg="modSp new mod">
        <pc:chgData name="يوسف وائل بدوى الغنيمى" userId="113a15ca-4999-48e0-b344-0475eacfcdcd" providerId="ADAL" clId="{FD84B385-C443-4D7E-A604-1DFAD1208536}" dt="2025-09-20T02:20:33.113" v="397" actId="27636"/>
        <pc:sldMkLst>
          <pc:docMk/>
          <pc:sldMk cId="387314445" sldId="273"/>
        </pc:sldMkLst>
        <pc:spChg chg="mod">
          <ac:chgData name="يوسف وائل بدوى الغنيمى" userId="113a15ca-4999-48e0-b344-0475eacfcdcd" providerId="ADAL" clId="{FD84B385-C443-4D7E-A604-1DFAD1208536}" dt="2025-09-20T02:16:11.605" v="383" actId="120"/>
          <ac:spMkLst>
            <pc:docMk/>
            <pc:sldMk cId="387314445" sldId="273"/>
            <ac:spMk id="2" creationId="{C0DDCCF4-FFB2-484D-BD87-A9CC18321233}"/>
          </ac:spMkLst>
        </pc:spChg>
        <pc:spChg chg="mod">
          <ac:chgData name="يوسف وائل بدوى الغنيمى" userId="113a15ca-4999-48e0-b344-0475eacfcdcd" providerId="ADAL" clId="{FD84B385-C443-4D7E-A604-1DFAD1208536}" dt="2025-09-20T02:20:33.113" v="397" actId="27636"/>
          <ac:spMkLst>
            <pc:docMk/>
            <pc:sldMk cId="387314445" sldId="273"/>
            <ac:spMk id="3" creationId="{CB53313B-2704-D2DD-87BA-1B1AB78EE1C5}"/>
          </ac:spMkLst>
        </pc:spChg>
      </pc:sldChg>
      <pc:sldChg chg="modSp new del mod">
        <pc:chgData name="يوسف وائل بدوى الغنيمى" userId="113a15ca-4999-48e0-b344-0475eacfcdcd" providerId="ADAL" clId="{FD84B385-C443-4D7E-A604-1DFAD1208536}" dt="2025-09-20T02:24:09.329" v="413" actId="680"/>
        <pc:sldMkLst>
          <pc:docMk/>
          <pc:sldMk cId="2719118922" sldId="274"/>
        </pc:sldMkLst>
        <pc:spChg chg="mod">
          <ac:chgData name="يوسف وائل بدوى الغنيمى" userId="113a15ca-4999-48e0-b344-0475eacfcdcd" providerId="ADAL" clId="{FD84B385-C443-4D7E-A604-1DFAD1208536}" dt="2025-09-20T02:24:07.809" v="412" actId="5793"/>
          <ac:spMkLst>
            <pc:docMk/>
            <pc:sldMk cId="2719118922" sldId="274"/>
            <ac:spMk id="3" creationId="{36A23550-F4FC-F725-EE58-8DCE086289C2}"/>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a:xfrm>
            <a:off x="2692397" y="5037663"/>
            <a:ext cx="5214635" cy="279400"/>
          </a:xfrm>
        </p:spPr>
        <p:txBody>
          <a:bodyPr/>
          <a:lstStyle/>
          <a:p>
            <a:endParaRPr lang="en-GB"/>
          </a:p>
        </p:txBody>
      </p:sp>
      <p:sp>
        <p:nvSpPr>
          <p:cNvPr id="6" name="Slide Number Placeholder 5"/>
          <p:cNvSpPr>
            <a:spLocks noGrp="1"/>
          </p:cNvSpPr>
          <p:nvPr>
            <p:ph type="sldNum" sz="quarter" idx="12"/>
          </p:nvPr>
        </p:nvSpPr>
        <p:spPr>
          <a:xfrm>
            <a:off x="8956900" y="5037663"/>
            <a:ext cx="551167" cy="279400"/>
          </a:xfrm>
        </p:spPr>
        <p:txBody>
          <a:bodyPr/>
          <a:lstStyle/>
          <a:p>
            <a:fld id="{4E29A442-326A-4726-9ED2-CEBAE64B0862}" type="slidenum">
              <a:rPr lang="en-GB" smtClean="0"/>
              <a:t>‹#›</a:t>
            </a:fld>
            <a:endParaRPr lang="en-GB"/>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7718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3718912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837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4C3BA91-6A2F-49BE-8B98-73F46B451B02}" type="datetimeFigureOut">
              <a:rPr lang="en-GB" smtClean="0"/>
              <a:t>20/09/2025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196972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4C3BA91-6A2F-49BE-8B98-73F46B451B02}" type="datetimeFigureOut">
              <a:rPr lang="en-GB" smtClean="0"/>
              <a:t>20/09/2025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29A442-326A-4726-9ED2-CEBAE64B0862}" type="slidenum">
              <a:rPr lang="en-GB" smtClean="0"/>
              <a:t>‹#›</a:t>
            </a:fld>
            <a:endParaRPr lang="en-GB"/>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3584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4C3BA91-6A2F-49BE-8B98-73F46B451B02}" type="datetimeFigureOut">
              <a:rPr lang="en-GB" smtClean="0"/>
              <a:t>20/09/2025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29A442-326A-4726-9ED2-CEBAE64B0862}"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138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C3BA91-6A2F-49BE-8B98-73F46B451B02}" type="datetimeFigureOut">
              <a:rPr lang="en-GB" smtClean="0"/>
              <a:t>20/09/2025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213386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C3BA91-6A2F-49BE-8B98-73F46B451B02}" type="datetimeFigureOut">
              <a:rPr lang="en-GB" smtClean="0"/>
              <a:t>20/09/2025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29A442-326A-4726-9ED2-CEBAE64B0862}" type="slidenum">
              <a:rPr lang="en-GB" smtClean="0"/>
              <a:t>‹#›</a:t>
            </a:fld>
            <a:endParaRPr lang="en-GB"/>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1812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C3BA91-6A2F-49BE-8B98-73F46B451B02}" type="datetimeFigureOut">
              <a:rPr lang="en-GB" smtClean="0"/>
              <a:t>20/09/2025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4195017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C3BA91-6A2F-49BE-8B98-73F46B451B02}" type="datetimeFigureOut">
              <a:rPr lang="en-GB" smtClean="0"/>
              <a:t>20/09/2025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1857423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4579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8890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spTree>
    <p:extLst>
      <p:ext uri="{BB962C8B-B14F-4D97-AF65-F5344CB8AC3E}">
        <p14:creationId xmlns:p14="http://schemas.microsoft.com/office/powerpoint/2010/main" val="892981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3172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5907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8659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4C3BA91-6A2F-49BE-8B98-73F46B451B02}" type="datetimeFigureOut">
              <a:rPr lang="en-GB" smtClean="0"/>
              <a:t>20/09/2025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29A442-326A-4726-9ED2-CEBAE64B0862}" type="slidenum">
              <a:rPr lang="en-GB" smtClean="0"/>
              <a:t>‹#›</a:t>
            </a:fld>
            <a:endParaRPr lang="en-GB"/>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301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4C3BA91-6A2F-49BE-8B98-73F46B451B02}" type="datetimeFigureOut">
              <a:rPr lang="en-GB" smtClean="0"/>
              <a:t>20/09/2025</a:t>
            </a:fld>
            <a:endParaRPr lang="en-GB"/>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29A442-326A-4726-9ED2-CEBAE64B0862}" type="slidenum">
              <a:rPr lang="en-GB" smtClean="0"/>
              <a:t>‹#›</a:t>
            </a:fld>
            <a:endParaRPr lang="en-GB"/>
          </a:p>
        </p:txBody>
      </p:sp>
    </p:spTree>
    <p:extLst>
      <p:ext uri="{BB962C8B-B14F-4D97-AF65-F5344CB8AC3E}">
        <p14:creationId xmlns:p14="http://schemas.microsoft.com/office/powerpoint/2010/main" val="216113035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FD8EF-9CEA-7EE6-8E75-91FAE6FAD571}"/>
              </a:ext>
            </a:extLst>
          </p:cNvPr>
          <p:cNvSpPr>
            <a:spLocks noGrp="1"/>
          </p:cNvSpPr>
          <p:nvPr>
            <p:ph type="ctrTitle"/>
          </p:nvPr>
        </p:nvSpPr>
        <p:spPr/>
        <p:txBody>
          <a:bodyPr/>
          <a:lstStyle/>
          <a:p>
            <a:r>
              <a:rPr lang="en-GB" dirty="0"/>
              <a:t>Football Injuries</a:t>
            </a:r>
          </a:p>
        </p:txBody>
      </p:sp>
      <p:sp>
        <p:nvSpPr>
          <p:cNvPr id="3" name="Subtitle 2">
            <a:extLst>
              <a:ext uri="{FF2B5EF4-FFF2-40B4-BE49-F238E27FC236}">
                <a16:creationId xmlns:a16="http://schemas.microsoft.com/office/drawing/2014/main" id="{528746CF-5A61-0C0C-7FC7-77246AF79C4F}"/>
              </a:ext>
            </a:extLst>
          </p:cNvPr>
          <p:cNvSpPr>
            <a:spLocks noGrp="1"/>
          </p:cNvSpPr>
          <p:nvPr>
            <p:ph type="subTitle" idx="1"/>
          </p:nvPr>
        </p:nvSpPr>
        <p:spPr/>
        <p:txBody>
          <a:bodyPr/>
          <a:lstStyle/>
          <a:p>
            <a:r>
              <a:rPr lang="en-GB" dirty="0"/>
              <a:t>By: Youssef Wael</a:t>
            </a:r>
          </a:p>
        </p:txBody>
      </p:sp>
    </p:spTree>
    <p:extLst>
      <p:ext uri="{BB962C8B-B14F-4D97-AF65-F5344CB8AC3E}">
        <p14:creationId xmlns:p14="http://schemas.microsoft.com/office/powerpoint/2010/main" val="2096243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CE734-B9AC-17BB-8F39-F6AC87979B24}"/>
              </a:ext>
            </a:extLst>
          </p:cNvPr>
          <p:cNvSpPr>
            <a:spLocks noGrp="1"/>
          </p:cNvSpPr>
          <p:nvPr>
            <p:ph type="title"/>
          </p:nvPr>
        </p:nvSpPr>
        <p:spPr/>
        <p:txBody>
          <a:bodyPr>
            <a:normAutofit/>
          </a:bodyPr>
          <a:lstStyle/>
          <a:p>
            <a:pPr algn="l"/>
            <a:r>
              <a:rPr lang="en-GB" sz="4800" b="1" dirty="0"/>
              <a:t>AGENDA</a:t>
            </a:r>
          </a:p>
        </p:txBody>
      </p:sp>
      <p:sp>
        <p:nvSpPr>
          <p:cNvPr id="3" name="Content Placeholder 2">
            <a:extLst>
              <a:ext uri="{FF2B5EF4-FFF2-40B4-BE49-F238E27FC236}">
                <a16:creationId xmlns:a16="http://schemas.microsoft.com/office/drawing/2014/main" id="{1627087B-6E6A-6BCF-6907-F2BD52321478}"/>
              </a:ext>
            </a:extLst>
          </p:cNvPr>
          <p:cNvSpPr>
            <a:spLocks noGrp="1"/>
          </p:cNvSpPr>
          <p:nvPr>
            <p:ph idx="1"/>
          </p:nvPr>
        </p:nvSpPr>
        <p:spPr/>
        <p:txBody>
          <a:bodyPr>
            <a:normAutofit/>
          </a:bodyPr>
          <a:lstStyle/>
          <a:p>
            <a:r>
              <a:rPr lang="en-GB" sz="2800" b="1" dirty="0"/>
              <a:t>Dashboard</a:t>
            </a:r>
          </a:p>
          <a:p>
            <a:r>
              <a:rPr lang="en-GB" sz="2800" b="1" dirty="0"/>
              <a:t>Executive Summary</a:t>
            </a:r>
          </a:p>
          <a:p>
            <a:r>
              <a:rPr lang="en-GB" sz="2800" b="1" dirty="0"/>
              <a:t>Key Insights &amp; Analysis</a:t>
            </a:r>
          </a:p>
          <a:p>
            <a:r>
              <a:rPr lang="en-GB" sz="2800" b="1" dirty="0"/>
              <a:t>Injuries Peak (2005-2007)</a:t>
            </a:r>
          </a:p>
          <a:p>
            <a:r>
              <a:rPr lang="en-GB" sz="2800" b="1" dirty="0"/>
              <a:t>Recommendations</a:t>
            </a:r>
          </a:p>
          <a:p>
            <a:endParaRPr lang="en-GB" sz="2800" b="1" dirty="0"/>
          </a:p>
          <a:p>
            <a:endParaRPr lang="en-GB" sz="2800" b="1" dirty="0"/>
          </a:p>
        </p:txBody>
      </p:sp>
    </p:spTree>
    <p:extLst>
      <p:ext uri="{BB962C8B-B14F-4D97-AF65-F5344CB8AC3E}">
        <p14:creationId xmlns:p14="http://schemas.microsoft.com/office/powerpoint/2010/main" val="1108083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BDA979AC-539D-AAC9-6B2C-006604EB02B0}"/>
                  </a:ext>
                </a:extLst>
              </p:cNvPr>
              <p:cNvGraphicFramePr>
                <a:graphicFrameLocks noGrp="1"/>
              </p:cNvGraphicFramePr>
              <p:nvPr>
                <p:ph idx="1"/>
                <p:extLst>
                  <p:ext uri="{D42A27DB-BD31-4B8C-83A1-F6EECF244321}">
                    <p14:modId xmlns:p14="http://schemas.microsoft.com/office/powerpoint/2010/main" val="2910871540"/>
                  </p:ext>
                </p:extLst>
              </p:nvPr>
            </p:nvGraphicFramePr>
            <p:xfrm>
              <a:off x="1022555" y="884903"/>
              <a:ext cx="9874045" cy="5279924"/>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BDA979AC-539D-AAC9-6B2C-006604EB02B0}"/>
                  </a:ext>
                </a:extLst>
              </p:cNvPr>
              <p:cNvPicPr>
                <a:picLocks noGrp="1" noRot="1" noChangeAspect="1" noMove="1" noResize="1" noEditPoints="1" noAdjustHandles="1" noChangeArrowheads="1" noChangeShapeType="1"/>
              </p:cNvPicPr>
              <p:nvPr/>
            </p:nvPicPr>
            <p:blipFill>
              <a:blip r:embed="rId3"/>
              <a:stretch>
                <a:fillRect/>
              </a:stretch>
            </p:blipFill>
            <p:spPr>
              <a:xfrm>
                <a:off x="1022555" y="884903"/>
                <a:ext cx="9874045" cy="5279924"/>
              </a:xfrm>
              <a:prstGeom prst="rect">
                <a:avLst/>
              </a:prstGeom>
            </p:spPr>
          </p:pic>
        </mc:Fallback>
      </mc:AlternateContent>
    </p:spTree>
    <p:extLst>
      <p:ext uri="{BB962C8B-B14F-4D97-AF65-F5344CB8AC3E}">
        <p14:creationId xmlns:p14="http://schemas.microsoft.com/office/powerpoint/2010/main" val="152589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21465-C84B-994F-DC69-CC7B4FD2EA36}"/>
              </a:ext>
            </a:extLst>
          </p:cNvPr>
          <p:cNvSpPr>
            <a:spLocks noGrp="1"/>
          </p:cNvSpPr>
          <p:nvPr>
            <p:ph type="title"/>
          </p:nvPr>
        </p:nvSpPr>
        <p:spPr/>
        <p:txBody>
          <a:bodyPr>
            <a:normAutofit/>
          </a:bodyPr>
          <a:lstStyle/>
          <a:p>
            <a:pPr algn="l"/>
            <a:r>
              <a:rPr lang="en-GB" b="1" dirty="0"/>
              <a:t>Executive Summary</a:t>
            </a:r>
            <a:endParaRPr lang="en-GB" dirty="0"/>
          </a:p>
        </p:txBody>
      </p:sp>
      <p:sp>
        <p:nvSpPr>
          <p:cNvPr id="3" name="Content Placeholder 2">
            <a:extLst>
              <a:ext uri="{FF2B5EF4-FFF2-40B4-BE49-F238E27FC236}">
                <a16:creationId xmlns:a16="http://schemas.microsoft.com/office/drawing/2014/main" id="{15710D8E-9226-536D-37A6-46C543359925}"/>
              </a:ext>
            </a:extLst>
          </p:cNvPr>
          <p:cNvSpPr>
            <a:spLocks noGrp="1"/>
          </p:cNvSpPr>
          <p:nvPr>
            <p:ph idx="1"/>
          </p:nvPr>
        </p:nvSpPr>
        <p:spPr/>
        <p:txBody>
          <a:bodyPr/>
          <a:lstStyle/>
          <a:p>
            <a:pPr marL="0" indent="0">
              <a:buNone/>
            </a:pPr>
            <a:r>
              <a:rPr lang="en-GB" dirty="0"/>
              <a:t>The data reveals a significant and positive trend: while the </a:t>
            </a:r>
            <a:r>
              <a:rPr lang="en-GB" b="1" dirty="0"/>
              <a:t>total number of injuries remains high</a:t>
            </a:r>
            <a:r>
              <a:rPr lang="en-GB" dirty="0"/>
              <a:t>, the </a:t>
            </a:r>
            <a:r>
              <a:rPr lang="en-GB" b="1" dirty="0"/>
              <a:t>severity of those injuries has drastically decreased</a:t>
            </a:r>
            <a:r>
              <a:rPr lang="en-GB" dirty="0"/>
              <a:t> over the past two decades. Players are getting injured just as often, but they are missing far fewer days and games per injury. This suggests major improvements in medical treatment, rehabilitation, and proactive management. However, muscular and soft-tissue injuries (hamstrings, knees, ankles) remain the dominant and persistent challenge.</a:t>
            </a:r>
          </a:p>
          <a:p>
            <a:endParaRPr lang="en-GB" dirty="0"/>
          </a:p>
        </p:txBody>
      </p:sp>
    </p:spTree>
    <p:extLst>
      <p:ext uri="{BB962C8B-B14F-4D97-AF65-F5344CB8AC3E}">
        <p14:creationId xmlns:p14="http://schemas.microsoft.com/office/powerpoint/2010/main" val="110154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6F51B-1AEE-B7C0-B64F-52BFC4A9618C}"/>
              </a:ext>
            </a:extLst>
          </p:cNvPr>
          <p:cNvSpPr>
            <a:spLocks noGrp="1"/>
          </p:cNvSpPr>
          <p:nvPr>
            <p:ph type="title"/>
          </p:nvPr>
        </p:nvSpPr>
        <p:spPr/>
        <p:txBody>
          <a:bodyPr>
            <a:normAutofit/>
          </a:bodyPr>
          <a:lstStyle/>
          <a:p>
            <a:pPr algn="l"/>
            <a:r>
              <a:rPr lang="en-GB" b="1" dirty="0"/>
              <a:t>Key Insights &amp; Analysis</a:t>
            </a:r>
          </a:p>
        </p:txBody>
      </p:sp>
      <p:sp>
        <p:nvSpPr>
          <p:cNvPr id="3" name="Content Placeholder 2">
            <a:extLst>
              <a:ext uri="{FF2B5EF4-FFF2-40B4-BE49-F238E27FC236}">
                <a16:creationId xmlns:a16="http://schemas.microsoft.com/office/drawing/2014/main" id="{C50A48F8-1BFB-DA2A-7DFB-18DA811C69BB}"/>
              </a:ext>
            </a:extLst>
          </p:cNvPr>
          <p:cNvSpPr>
            <a:spLocks noGrp="1"/>
          </p:cNvSpPr>
          <p:nvPr>
            <p:ph idx="1"/>
          </p:nvPr>
        </p:nvSpPr>
        <p:spPr/>
        <p:txBody>
          <a:bodyPr>
            <a:normAutofit/>
          </a:bodyPr>
          <a:lstStyle/>
          <a:p>
            <a:pPr marL="457200" indent="-457200">
              <a:buFont typeface="+mj-lt"/>
              <a:buAutoNum type="arabicPeriod"/>
            </a:pPr>
            <a:r>
              <a:rPr lang="en-GB" sz="2800" dirty="0"/>
              <a:t>Dramatic Reduction in Injury Severity</a:t>
            </a:r>
          </a:p>
          <a:p>
            <a:pPr marL="457200" indent="-457200">
              <a:buFont typeface="+mj-lt"/>
              <a:buAutoNum type="arabicPeriod"/>
            </a:pPr>
            <a:r>
              <a:rPr lang="en-GB" sz="2800" dirty="0"/>
              <a:t>High Volume of Injuries with Low Severity</a:t>
            </a:r>
          </a:p>
          <a:p>
            <a:pPr marL="457200" indent="-457200">
              <a:buFont typeface="+mj-lt"/>
              <a:buAutoNum type="arabicPeriod"/>
            </a:pPr>
            <a:r>
              <a:rPr lang="en-GB" sz="2800" dirty="0"/>
              <a:t>Muscular and Soft-Tissue Injuries are the Primary Problem</a:t>
            </a:r>
          </a:p>
          <a:p>
            <a:pPr marL="457200" indent="-457200">
              <a:buFont typeface="+mj-lt"/>
              <a:buAutoNum type="arabicPeriod"/>
            </a:pPr>
            <a:r>
              <a:rPr lang="en-GB" sz="2800" dirty="0"/>
              <a:t>The Impact of Modern Events</a:t>
            </a:r>
          </a:p>
          <a:p>
            <a:pPr marL="457200" indent="-457200">
              <a:buFont typeface="+mj-lt"/>
              <a:buAutoNum type="arabicPeriod"/>
            </a:pPr>
            <a:endParaRPr lang="en-GB" sz="2800" dirty="0"/>
          </a:p>
          <a:p>
            <a:pPr marL="457200" indent="-457200">
              <a:buFont typeface="+mj-lt"/>
              <a:buAutoNum type="arabicPeriod"/>
            </a:pPr>
            <a:endParaRPr lang="en-GB" sz="2800" dirty="0"/>
          </a:p>
        </p:txBody>
      </p:sp>
    </p:spTree>
    <p:extLst>
      <p:ext uri="{BB962C8B-B14F-4D97-AF65-F5344CB8AC3E}">
        <p14:creationId xmlns:p14="http://schemas.microsoft.com/office/powerpoint/2010/main" val="2129282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9FA8-4560-B467-B6B7-4E14E6C26206}"/>
              </a:ext>
            </a:extLst>
          </p:cNvPr>
          <p:cNvSpPr>
            <a:spLocks noGrp="1"/>
          </p:cNvSpPr>
          <p:nvPr>
            <p:ph type="title"/>
          </p:nvPr>
        </p:nvSpPr>
        <p:spPr/>
        <p:txBody>
          <a:bodyPr>
            <a:normAutofit/>
          </a:bodyPr>
          <a:lstStyle/>
          <a:p>
            <a:pPr algn="l"/>
            <a:r>
              <a:rPr lang="en-GB" dirty="0"/>
              <a:t>Dramatic Reduction in Injury Severity</a:t>
            </a:r>
          </a:p>
        </p:txBody>
      </p:sp>
      <p:sp>
        <p:nvSpPr>
          <p:cNvPr id="3" name="Content Placeholder 2">
            <a:extLst>
              <a:ext uri="{FF2B5EF4-FFF2-40B4-BE49-F238E27FC236}">
                <a16:creationId xmlns:a16="http://schemas.microsoft.com/office/drawing/2014/main" id="{EE71AB60-844A-34D2-3BCB-76C3FEFD7A4B}"/>
              </a:ext>
            </a:extLst>
          </p:cNvPr>
          <p:cNvSpPr>
            <a:spLocks noGrp="1"/>
          </p:cNvSpPr>
          <p:nvPr>
            <p:ph idx="1"/>
          </p:nvPr>
        </p:nvSpPr>
        <p:spPr/>
        <p:txBody>
          <a:bodyPr>
            <a:normAutofit fontScale="92500" lnSpcReduction="20000"/>
          </a:bodyPr>
          <a:lstStyle/>
          <a:p>
            <a:r>
              <a:rPr lang="en-GB" dirty="0"/>
              <a:t>What the data shows: The "Average of Days missed" chart shows a steep decline from ~87 days before 2000 to ~56 days in 2025. Even more striking is the "Average of Games missed" chart, falling from over 12 games per injury before 2000 to just 7 games in 2025.</a:t>
            </a:r>
          </a:p>
          <a:p>
            <a:endParaRPr lang="en-GB" dirty="0"/>
          </a:p>
          <a:p>
            <a:r>
              <a:rPr lang="en-GB" dirty="0"/>
              <a:t>Interpretation: This is a monumental improvement. It indicates that sports science, medical interventions (like advanced surgeries), and rehabilitation protocols have become vastly more effective. Injuries that were once career-threatening (e.g., Achilles tendon ruptures, cruciate ligament tears) now have much shorter recovery times.</a:t>
            </a:r>
          </a:p>
        </p:txBody>
      </p:sp>
    </p:spTree>
    <p:extLst>
      <p:ext uri="{BB962C8B-B14F-4D97-AF65-F5344CB8AC3E}">
        <p14:creationId xmlns:p14="http://schemas.microsoft.com/office/powerpoint/2010/main" val="3678972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0C46-C8F3-404E-6CFC-ECCF33E1CDE6}"/>
              </a:ext>
            </a:extLst>
          </p:cNvPr>
          <p:cNvSpPr>
            <a:spLocks noGrp="1"/>
          </p:cNvSpPr>
          <p:nvPr>
            <p:ph type="title"/>
          </p:nvPr>
        </p:nvSpPr>
        <p:spPr/>
        <p:txBody>
          <a:bodyPr>
            <a:normAutofit/>
          </a:bodyPr>
          <a:lstStyle/>
          <a:p>
            <a:pPr algn="l"/>
            <a:r>
              <a:rPr lang="en-GB" dirty="0"/>
              <a:t>High Volume of Injuries with Low Severity</a:t>
            </a:r>
          </a:p>
        </p:txBody>
      </p:sp>
      <p:sp>
        <p:nvSpPr>
          <p:cNvPr id="3" name="Content Placeholder 2">
            <a:extLst>
              <a:ext uri="{FF2B5EF4-FFF2-40B4-BE49-F238E27FC236}">
                <a16:creationId xmlns:a16="http://schemas.microsoft.com/office/drawing/2014/main" id="{467A6B30-A8AA-3C03-F304-90FF78BC4DB4}"/>
              </a:ext>
            </a:extLst>
          </p:cNvPr>
          <p:cNvSpPr>
            <a:spLocks noGrp="1"/>
          </p:cNvSpPr>
          <p:nvPr>
            <p:ph idx="1"/>
          </p:nvPr>
        </p:nvSpPr>
        <p:spPr/>
        <p:txBody>
          <a:bodyPr>
            <a:normAutofit/>
          </a:bodyPr>
          <a:lstStyle/>
          <a:p>
            <a:r>
              <a:rPr lang="en-GB" b="1" dirty="0"/>
              <a:t> What the data shows:</a:t>
            </a:r>
            <a:r>
              <a:rPr lang="en-GB" dirty="0"/>
              <a:t> There are over </a:t>
            </a:r>
            <a:r>
              <a:rPr lang="en-GB" b="1" dirty="0"/>
              <a:t>110,840 total injuries</a:t>
            </a:r>
            <a:r>
              <a:rPr lang="en-GB" dirty="0"/>
              <a:t> (after processing) in the dataset, but the average games missed is only </a:t>
            </a:r>
            <a:r>
              <a:rPr lang="en-GB" b="1" dirty="0"/>
              <a:t>7.19</a:t>
            </a:r>
            <a:r>
              <a:rPr lang="en-GB" dirty="0"/>
              <a:t> and the average days missed is </a:t>
            </a:r>
            <a:r>
              <a:rPr lang="en-GB" b="1" dirty="0"/>
              <a:t>53.61</a:t>
            </a:r>
            <a:r>
              <a:rPr lang="en-GB" dirty="0"/>
              <a:t>.</a:t>
            </a:r>
          </a:p>
          <a:p>
            <a:r>
              <a:rPr lang="en-GB" b="1" dirty="0"/>
              <a:t>Interpretation:</a:t>
            </a:r>
            <a:r>
              <a:rPr lang="en-GB" dirty="0"/>
              <a:t> The injury profile has shifted from long-term absences to a higher frequency of short-term, manageable issues. The ecosystem is better at dealing with injuries quickly, but the sheer volume indicates that the physical demands of the sport are still causing a high rate of incidents.</a:t>
            </a:r>
          </a:p>
          <a:p>
            <a:endParaRPr lang="en-GB" dirty="0"/>
          </a:p>
        </p:txBody>
      </p:sp>
    </p:spTree>
    <p:extLst>
      <p:ext uri="{BB962C8B-B14F-4D97-AF65-F5344CB8AC3E}">
        <p14:creationId xmlns:p14="http://schemas.microsoft.com/office/powerpoint/2010/main" val="2214695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42CF1-2067-FD6B-E7A8-CA618AD01ED5}"/>
              </a:ext>
            </a:extLst>
          </p:cNvPr>
          <p:cNvSpPr>
            <a:spLocks noGrp="1"/>
          </p:cNvSpPr>
          <p:nvPr>
            <p:ph type="title"/>
          </p:nvPr>
        </p:nvSpPr>
        <p:spPr/>
        <p:txBody>
          <a:bodyPr>
            <a:normAutofit fontScale="90000"/>
          </a:bodyPr>
          <a:lstStyle/>
          <a:p>
            <a:pPr algn="l"/>
            <a:r>
              <a:rPr lang="en-GB" dirty="0"/>
              <a:t>Muscular and Soft-Tissue Injuries are the Primary Problem</a:t>
            </a:r>
            <a:br>
              <a:rPr lang="en-GB" dirty="0"/>
            </a:br>
            <a:endParaRPr lang="en-GB" dirty="0"/>
          </a:p>
        </p:txBody>
      </p:sp>
      <p:sp>
        <p:nvSpPr>
          <p:cNvPr id="3" name="Content Placeholder 2">
            <a:extLst>
              <a:ext uri="{FF2B5EF4-FFF2-40B4-BE49-F238E27FC236}">
                <a16:creationId xmlns:a16="http://schemas.microsoft.com/office/drawing/2014/main" id="{B4D8380C-CFDC-ED21-698F-91C1BD769158}"/>
              </a:ext>
            </a:extLst>
          </p:cNvPr>
          <p:cNvSpPr>
            <a:spLocks noGrp="1"/>
          </p:cNvSpPr>
          <p:nvPr>
            <p:ph idx="1"/>
          </p:nvPr>
        </p:nvSpPr>
        <p:spPr/>
        <p:txBody>
          <a:bodyPr/>
          <a:lstStyle/>
          <a:p>
            <a:r>
              <a:rPr lang="en-GB" b="1" dirty="0"/>
              <a:t>What the data shows:</a:t>
            </a:r>
            <a:r>
              <a:rPr lang="en-GB" dirty="0"/>
              <a:t> The "Top 10 Injury Reason Percentage" chart is dominated by </a:t>
            </a:r>
            <a:r>
              <a:rPr lang="en-GB" b="1" dirty="0"/>
              <a:t>Muscle injury (10.7%)</a:t>
            </a:r>
            <a:r>
              <a:rPr lang="en-GB" dirty="0"/>
              <a:t>, </a:t>
            </a:r>
            <a:r>
              <a:rPr lang="en-GB" b="1" dirty="0"/>
              <a:t>Hamstring injury (8.94%)</a:t>
            </a:r>
            <a:r>
              <a:rPr lang="en-GB" dirty="0"/>
              <a:t>, </a:t>
            </a:r>
            <a:r>
              <a:rPr lang="en-GB" b="1" dirty="0"/>
              <a:t>Knee injury (8.13%)</a:t>
            </a:r>
            <a:r>
              <a:rPr lang="en-GB" dirty="0"/>
              <a:t>, </a:t>
            </a:r>
            <a:r>
              <a:rPr lang="en-GB" b="1" dirty="0"/>
              <a:t>muscular problems (6.97%)</a:t>
            </a:r>
            <a:r>
              <a:rPr lang="en-GB" dirty="0"/>
              <a:t>, and </a:t>
            </a:r>
            <a:r>
              <a:rPr lang="en-GB" b="1" dirty="0"/>
              <a:t>Ankle injury (6.74%)</a:t>
            </a:r>
            <a:r>
              <a:rPr lang="en-GB" dirty="0"/>
              <a:t>. Together, these categories represent a massive portion of all injuries.</a:t>
            </a:r>
          </a:p>
          <a:p>
            <a:r>
              <a:rPr lang="en-GB" b="1" dirty="0"/>
              <a:t>Interpretation:</a:t>
            </a:r>
            <a:r>
              <a:rPr lang="en-GB" dirty="0"/>
              <a:t> Despite overall improvements, preventing these specific types of injuries remains the biggest unsolved challenge. They are likely linked to modern football's intensity: high-speed running, rapid acceleration/deceleration, congested fixtures, and short recovery periods.</a:t>
            </a:r>
          </a:p>
          <a:p>
            <a:endParaRPr lang="en-GB" dirty="0"/>
          </a:p>
        </p:txBody>
      </p:sp>
    </p:spTree>
    <p:extLst>
      <p:ext uri="{BB962C8B-B14F-4D97-AF65-F5344CB8AC3E}">
        <p14:creationId xmlns:p14="http://schemas.microsoft.com/office/powerpoint/2010/main" val="3676198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F00F6-D52C-A769-380E-79D85FEFB86A}"/>
              </a:ext>
            </a:extLst>
          </p:cNvPr>
          <p:cNvSpPr>
            <a:spLocks noGrp="1"/>
          </p:cNvSpPr>
          <p:nvPr>
            <p:ph type="title"/>
          </p:nvPr>
        </p:nvSpPr>
        <p:spPr/>
        <p:txBody>
          <a:bodyPr>
            <a:normAutofit/>
          </a:bodyPr>
          <a:lstStyle/>
          <a:p>
            <a:pPr algn="l"/>
            <a:r>
              <a:rPr lang="en-GB" dirty="0"/>
              <a:t>The Impact of Modern Events</a:t>
            </a:r>
          </a:p>
        </p:txBody>
      </p:sp>
      <p:sp>
        <p:nvSpPr>
          <p:cNvPr id="3" name="Content Placeholder 2">
            <a:extLst>
              <a:ext uri="{FF2B5EF4-FFF2-40B4-BE49-F238E27FC236}">
                <a16:creationId xmlns:a16="http://schemas.microsoft.com/office/drawing/2014/main" id="{F110ABE3-CD55-35C9-628F-78652981CCBD}"/>
              </a:ext>
            </a:extLst>
          </p:cNvPr>
          <p:cNvSpPr>
            <a:spLocks noGrp="1"/>
          </p:cNvSpPr>
          <p:nvPr>
            <p:ph idx="1"/>
          </p:nvPr>
        </p:nvSpPr>
        <p:spPr/>
        <p:txBody>
          <a:bodyPr>
            <a:normAutofit/>
          </a:bodyPr>
          <a:lstStyle/>
          <a:p>
            <a:r>
              <a:rPr lang="en-GB" b="1" dirty="0"/>
              <a:t>What the data shows:</a:t>
            </a:r>
            <a:r>
              <a:rPr lang="en-GB" dirty="0"/>
              <a:t> "Corona virus" appears in the top 10 injury reasons. The "Days missed and Games missed" line chart also shows noticeable spikes (e.g., around 2020-2021).</a:t>
            </a:r>
          </a:p>
          <a:p>
            <a:r>
              <a:rPr lang="en-GB" b="1" dirty="0"/>
              <a:t>Interpretation:</a:t>
            </a:r>
            <a:r>
              <a:rPr lang="en-GB" dirty="0"/>
              <a:t> External factors like the COVID-19 pandemic disrupted training schedules, fixture congestion, and player health, leading to a measurable spike in injuries and absences. This highlights how external shocks can severely impact player availability.</a:t>
            </a:r>
          </a:p>
          <a:p>
            <a:endParaRPr lang="en-GB" dirty="0"/>
          </a:p>
        </p:txBody>
      </p:sp>
    </p:spTree>
    <p:extLst>
      <p:ext uri="{BB962C8B-B14F-4D97-AF65-F5344CB8AC3E}">
        <p14:creationId xmlns:p14="http://schemas.microsoft.com/office/powerpoint/2010/main" val="312782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41AF-23D5-88C8-3CE0-B04E718A333B}"/>
              </a:ext>
            </a:extLst>
          </p:cNvPr>
          <p:cNvSpPr>
            <a:spLocks noGrp="1"/>
          </p:cNvSpPr>
          <p:nvPr>
            <p:ph type="title"/>
          </p:nvPr>
        </p:nvSpPr>
        <p:spPr/>
        <p:txBody>
          <a:bodyPr/>
          <a:lstStyle/>
          <a:p>
            <a:pPr algn="l"/>
            <a:r>
              <a:rPr lang="en-GB" b="1" dirty="0"/>
              <a:t>Injuries Peak (2005-2007)</a:t>
            </a:r>
          </a:p>
        </p:txBody>
      </p:sp>
      <p:sp>
        <p:nvSpPr>
          <p:cNvPr id="3" name="Content Placeholder 2">
            <a:extLst>
              <a:ext uri="{FF2B5EF4-FFF2-40B4-BE49-F238E27FC236}">
                <a16:creationId xmlns:a16="http://schemas.microsoft.com/office/drawing/2014/main" id="{E56BCA22-6606-9E90-A2F5-0C9B136BB537}"/>
              </a:ext>
            </a:extLst>
          </p:cNvPr>
          <p:cNvSpPr>
            <a:spLocks noGrp="1"/>
          </p:cNvSpPr>
          <p:nvPr>
            <p:ph idx="1"/>
          </p:nvPr>
        </p:nvSpPr>
        <p:spPr/>
        <p:txBody>
          <a:bodyPr>
            <a:normAutofit/>
          </a:bodyPr>
          <a:lstStyle/>
          <a:p>
            <a:pPr marL="457200" indent="-457200">
              <a:buFont typeface="+mj-lt"/>
              <a:buAutoNum type="arabicPeriod"/>
            </a:pPr>
            <a:r>
              <a:rPr lang="en-GB" sz="3200" dirty="0"/>
              <a:t>Extreme Fixture Congestion &amp; Accumulated Fatigue</a:t>
            </a:r>
          </a:p>
          <a:p>
            <a:pPr marL="457200" indent="-457200">
              <a:buFont typeface="+mj-lt"/>
              <a:buAutoNum type="arabicPeriod"/>
            </a:pPr>
            <a:r>
              <a:rPr lang="en-GB" sz="3200" dirty="0"/>
              <a:t>The Tactical and Physical Revolution</a:t>
            </a:r>
          </a:p>
          <a:p>
            <a:pPr marL="457200" indent="-457200">
              <a:buFont typeface="+mj-lt"/>
              <a:buAutoNum type="arabicPeriod"/>
            </a:pPr>
            <a:r>
              <a:rPr lang="en-GB" sz="3200" dirty="0"/>
              <a:t>Limits of Sports Science in these years</a:t>
            </a:r>
          </a:p>
        </p:txBody>
      </p:sp>
    </p:spTree>
    <p:extLst>
      <p:ext uri="{BB962C8B-B14F-4D97-AF65-F5344CB8AC3E}">
        <p14:creationId xmlns:p14="http://schemas.microsoft.com/office/powerpoint/2010/main" val="2095957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4DACE-5118-2CBF-A9D5-BA1DEE96542B}"/>
              </a:ext>
            </a:extLst>
          </p:cNvPr>
          <p:cNvSpPr>
            <a:spLocks noGrp="1"/>
          </p:cNvSpPr>
          <p:nvPr>
            <p:ph type="title"/>
          </p:nvPr>
        </p:nvSpPr>
        <p:spPr/>
        <p:txBody>
          <a:bodyPr>
            <a:normAutofit fontScale="90000"/>
          </a:bodyPr>
          <a:lstStyle/>
          <a:p>
            <a:pPr algn="l"/>
            <a:r>
              <a:rPr lang="en-GB" dirty="0"/>
              <a:t>Extreme Fixture Congestion &amp; Accumulated Fatigue</a:t>
            </a:r>
          </a:p>
        </p:txBody>
      </p:sp>
      <p:sp>
        <p:nvSpPr>
          <p:cNvPr id="3" name="Content Placeholder 2">
            <a:extLst>
              <a:ext uri="{FF2B5EF4-FFF2-40B4-BE49-F238E27FC236}">
                <a16:creationId xmlns:a16="http://schemas.microsoft.com/office/drawing/2014/main" id="{23E477A5-5BB2-E512-DFC6-7F442AED0971}"/>
              </a:ext>
            </a:extLst>
          </p:cNvPr>
          <p:cNvSpPr>
            <a:spLocks noGrp="1"/>
          </p:cNvSpPr>
          <p:nvPr>
            <p:ph idx="1"/>
          </p:nvPr>
        </p:nvSpPr>
        <p:spPr>
          <a:xfrm>
            <a:off x="1295401" y="2556932"/>
            <a:ext cx="9601196" cy="3666887"/>
          </a:xfrm>
        </p:spPr>
        <p:txBody>
          <a:bodyPr>
            <a:normAutofit fontScale="92500" lnSpcReduction="20000"/>
          </a:bodyPr>
          <a:lstStyle/>
          <a:p>
            <a:r>
              <a:rPr lang="en-GB" dirty="0"/>
              <a:t>Research by BJSM: "The influence of congested fixtures on injury rates in elite football" (Dupont et al., 2010).</a:t>
            </a:r>
          </a:p>
          <a:p>
            <a:r>
              <a:rPr lang="en-GB" dirty="0"/>
              <a:t>Practical Conclusion: The research established that a minimum of 5 days of recovery is crucial to significantly reduce the risk of soft-tissue injuries in elite football players.</a:t>
            </a:r>
          </a:p>
          <a:p>
            <a:r>
              <a:rPr lang="en-GB" dirty="0"/>
              <a:t>Key Finding: The study concluded that the risk of injury was 6 to 8 times higher when the recovery period between matches was less than 5 days compared to a recovery period of 6 days or more.</a:t>
            </a:r>
          </a:p>
          <a:p>
            <a:r>
              <a:rPr lang="en-GB" dirty="0"/>
              <a:t>World Cup Cycle: This period was the peak of the 2005 FIFA Club World Cup 2006 and FIFA World Cup cycle in Germany. Elite players had no meaningful summer break in 2005 (due to qualifiers, ) or in 2006 (due to the tournament itself).</a:t>
            </a:r>
          </a:p>
        </p:txBody>
      </p:sp>
    </p:spTree>
    <p:extLst>
      <p:ext uri="{BB962C8B-B14F-4D97-AF65-F5344CB8AC3E}">
        <p14:creationId xmlns:p14="http://schemas.microsoft.com/office/powerpoint/2010/main" val="1616159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9A0EB-A4FC-49A2-14AE-B36180556E6F}"/>
              </a:ext>
            </a:extLst>
          </p:cNvPr>
          <p:cNvSpPr>
            <a:spLocks noGrp="1"/>
          </p:cNvSpPr>
          <p:nvPr>
            <p:ph type="title"/>
          </p:nvPr>
        </p:nvSpPr>
        <p:spPr/>
        <p:txBody>
          <a:bodyPr/>
          <a:lstStyle/>
          <a:p>
            <a:pPr algn="l"/>
            <a:r>
              <a:rPr lang="en-GB" dirty="0"/>
              <a:t>The Tactical and Physical Revolution</a:t>
            </a:r>
          </a:p>
        </p:txBody>
      </p:sp>
      <p:sp>
        <p:nvSpPr>
          <p:cNvPr id="3" name="Content Placeholder 2">
            <a:extLst>
              <a:ext uri="{FF2B5EF4-FFF2-40B4-BE49-F238E27FC236}">
                <a16:creationId xmlns:a16="http://schemas.microsoft.com/office/drawing/2014/main" id="{D0084D61-0DE2-BDB1-07F8-E17141487874}"/>
              </a:ext>
            </a:extLst>
          </p:cNvPr>
          <p:cNvSpPr>
            <a:spLocks noGrp="1"/>
          </p:cNvSpPr>
          <p:nvPr>
            <p:ph idx="1"/>
          </p:nvPr>
        </p:nvSpPr>
        <p:spPr>
          <a:xfrm>
            <a:off x="1295401" y="2556931"/>
            <a:ext cx="9601196" cy="3578397"/>
          </a:xfrm>
        </p:spPr>
        <p:txBody>
          <a:bodyPr>
            <a:normAutofit fontScale="92500" lnSpcReduction="10000"/>
          </a:bodyPr>
          <a:lstStyle/>
          <a:p>
            <a:r>
              <a:rPr lang="en-GB" dirty="0"/>
              <a:t>Research by STPM: "The Evolution of Physical and Technical Performance Standards in the Premier League" (Barnes et al., 2014).</a:t>
            </a:r>
          </a:p>
          <a:p>
            <a:r>
              <a:rPr lang="en-GB" dirty="0"/>
              <a:t>The Era of High Pressing: Tactical systems based on aggressive high-pressing after losing the ball (pioneered by coaches such as Benitez and Mourinho) became prevalent.</a:t>
            </a:r>
          </a:p>
          <a:p>
            <a:r>
              <a:rPr lang="en-GB" dirty="0"/>
              <a:t>Muscular Loading: These tactics require repeated explosive movements (such as sprinting, sudden decelerations, and sharp changes of direction), placing significant stress on the hamstrings and other muscle groups. This is directly related to the most important causes of injuries on the dashboard: muscle injuries, hamstring injuries, and muscular problems.</a:t>
            </a:r>
          </a:p>
        </p:txBody>
      </p:sp>
    </p:spTree>
    <p:extLst>
      <p:ext uri="{BB962C8B-B14F-4D97-AF65-F5344CB8AC3E}">
        <p14:creationId xmlns:p14="http://schemas.microsoft.com/office/powerpoint/2010/main" val="1330226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DCCF4-FFB2-484D-BD87-A9CC18321233}"/>
              </a:ext>
            </a:extLst>
          </p:cNvPr>
          <p:cNvSpPr>
            <a:spLocks noGrp="1"/>
          </p:cNvSpPr>
          <p:nvPr>
            <p:ph type="title"/>
          </p:nvPr>
        </p:nvSpPr>
        <p:spPr/>
        <p:txBody>
          <a:bodyPr/>
          <a:lstStyle/>
          <a:p>
            <a:pPr algn="l"/>
            <a:r>
              <a:rPr lang="en-GB" dirty="0"/>
              <a:t>Limits of Sports Science in these years</a:t>
            </a:r>
          </a:p>
        </p:txBody>
      </p:sp>
      <p:sp>
        <p:nvSpPr>
          <p:cNvPr id="3" name="Content Placeholder 2">
            <a:extLst>
              <a:ext uri="{FF2B5EF4-FFF2-40B4-BE49-F238E27FC236}">
                <a16:creationId xmlns:a16="http://schemas.microsoft.com/office/drawing/2014/main" id="{CB53313B-2704-D2DD-87BA-1B1AB78EE1C5}"/>
              </a:ext>
            </a:extLst>
          </p:cNvPr>
          <p:cNvSpPr>
            <a:spLocks noGrp="1"/>
          </p:cNvSpPr>
          <p:nvPr>
            <p:ph idx="1"/>
          </p:nvPr>
        </p:nvSpPr>
        <p:spPr>
          <a:xfrm>
            <a:off x="1295401" y="2556932"/>
            <a:ext cx="9601196" cy="3529236"/>
          </a:xfrm>
        </p:spPr>
        <p:txBody>
          <a:bodyPr>
            <a:normAutofit lnSpcReduction="10000"/>
          </a:bodyPr>
          <a:lstStyle/>
          <a:p>
            <a:r>
              <a:rPr lang="en-GB" dirty="0"/>
              <a:t>Research by: Comprehensive reviews conducted by Professor Jan Ekstrand, a leading expert in football medicine, published in journals such as the Scandinavian Journal of Sports Medicine and Science.</a:t>
            </a:r>
          </a:p>
          <a:p>
            <a:r>
              <a:rPr lang="en-GB" dirty="0"/>
              <a:t>Key Finding: Prior to approximately 2010, load management was often based on self-monitoring and raw data. The widespread use of external (GPS) and internal (heart rate) load monitoring was not standard practice in elite clubs.</a:t>
            </a:r>
          </a:p>
          <a:p>
            <a:r>
              <a:rPr lang="en-GB" dirty="0"/>
              <a:t>The physical demands of the game temporarily exceeded what was available sports science. The subsequent years have been marked by bridging this gap, and this is the success story your data tells.</a:t>
            </a:r>
          </a:p>
        </p:txBody>
      </p:sp>
    </p:spTree>
    <p:extLst>
      <p:ext uri="{BB962C8B-B14F-4D97-AF65-F5344CB8AC3E}">
        <p14:creationId xmlns:p14="http://schemas.microsoft.com/office/powerpoint/2010/main" val="387314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690B-1FAE-200C-567A-CEAA6BAAB958}"/>
              </a:ext>
            </a:extLst>
          </p:cNvPr>
          <p:cNvSpPr>
            <a:spLocks noGrp="1"/>
          </p:cNvSpPr>
          <p:nvPr>
            <p:ph type="title"/>
          </p:nvPr>
        </p:nvSpPr>
        <p:spPr/>
        <p:txBody>
          <a:bodyPr/>
          <a:lstStyle/>
          <a:p>
            <a:pPr algn="l"/>
            <a:r>
              <a:rPr lang="en-GB" b="1" dirty="0"/>
              <a:t>Recommendations</a:t>
            </a:r>
          </a:p>
        </p:txBody>
      </p:sp>
      <p:sp>
        <p:nvSpPr>
          <p:cNvPr id="3" name="Content Placeholder 2">
            <a:extLst>
              <a:ext uri="{FF2B5EF4-FFF2-40B4-BE49-F238E27FC236}">
                <a16:creationId xmlns:a16="http://schemas.microsoft.com/office/drawing/2014/main" id="{CD31D373-C805-5A55-0B63-27FFFDE44C81}"/>
              </a:ext>
            </a:extLst>
          </p:cNvPr>
          <p:cNvSpPr>
            <a:spLocks noGrp="1"/>
          </p:cNvSpPr>
          <p:nvPr>
            <p:ph idx="1"/>
          </p:nvPr>
        </p:nvSpPr>
        <p:spPr/>
        <p:txBody>
          <a:bodyPr>
            <a:normAutofit/>
          </a:bodyPr>
          <a:lstStyle/>
          <a:p>
            <a:pPr marL="514350" indent="-514350">
              <a:buFont typeface="+mj-lt"/>
              <a:buAutoNum type="arabicPeriod"/>
            </a:pPr>
            <a:r>
              <a:rPr lang="en-GB" sz="3000" dirty="0"/>
              <a:t>Why Muscle Injury Prevention Methods Are on the Rise</a:t>
            </a:r>
          </a:p>
          <a:p>
            <a:pPr marL="514350" indent="-514350">
              <a:buFont typeface="+mj-lt"/>
              <a:buAutoNum type="arabicPeriod"/>
            </a:pPr>
            <a:r>
              <a:rPr lang="en-GB" sz="3000" dirty="0"/>
              <a:t>What we can to Leverage data for proactive interventions</a:t>
            </a:r>
          </a:p>
          <a:p>
            <a:pPr marL="514350" indent="-514350">
              <a:buFont typeface="+mj-lt"/>
              <a:buAutoNum type="arabicPeriod"/>
            </a:pPr>
            <a:r>
              <a:rPr lang="en-GB" sz="3000" dirty="0"/>
              <a:t>Clubs Strategic Management</a:t>
            </a:r>
          </a:p>
        </p:txBody>
      </p:sp>
    </p:spTree>
    <p:extLst>
      <p:ext uri="{BB962C8B-B14F-4D97-AF65-F5344CB8AC3E}">
        <p14:creationId xmlns:p14="http://schemas.microsoft.com/office/powerpoint/2010/main" val="4000609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D218-9713-BD11-55BE-B56E648F536F}"/>
              </a:ext>
            </a:extLst>
          </p:cNvPr>
          <p:cNvSpPr>
            <a:spLocks noGrp="1"/>
          </p:cNvSpPr>
          <p:nvPr>
            <p:ph type="title"/>
          </p:nvPr>
        </p:nvSpPr>
        <p:spPr/>
        <p:txBody>
          <a:bodyPr>
            <a:normAutofit fontScale="90000"/>
          </a:bodyPr>
          <a:lstStyle/>
          <a:p>
            <a:pPr algn="l"/>
            <a:r>
              <a:rPr lang="en-GB" dirty="0"/>
              <a:t>Why Muscle Injury Prevention Methods Are on the Rise</a:t>
            </a:r>
          </a:p>
        </p:txBody>
      </p:sp>
      <p:sp>
        <p:nvSpPr>
          <p:cNvPr id="3" name="Content Placeholder 2">
            <a:extLst>
              <a:ext uri="{FF2B5EF4-FFF2-40B4-BE49-F238E27FC236}">
                <a16:creationId xmlns:a16="http://schemas.microsoft.com/office/drawing/2014/main" id="{646FC666-11EA-B544-F54C-AF49F0E5FF28}"/>
              </a:ext>
            </a:extLst>
          </p:cNvPr>
          <p:cNvSpPr>
            <a:spLocks noGrp="1"/>
          </p:cNvSpPr>
          <p:nvPr>
            <p:ph idx="1"/>
          </p:nvPr>
        </p:nvSpPr>
        <p:spPr/>
        <p:txBody>
          <a:bodyPr>
            <a:normAutofit fontScale="92500"/>
          </a:bodyPr>
          <a:lstStyle/>
          <a:p>
            <a:r>
              <a:rPr lang="en-GB" dirty="0"/>
              <a:t>Implement individualized load management: Use GPS and performance data to monitor each player's workload and identify those at high risk of muscular fatigue.</a:t>
            </a:r>
          </a:p>
          <a:p>
            <a:r>
              <a:rPr lang="en-GB" dirty="0"/>
              <a:t>Enhance recovery protocols: Invest in and mandate the use of top-tier recovery tools (cryotherapy, compression, hydrotherapy) especially during periods of fixture congestion.</a:t>
            </a:r>
          </a:p>
          <a:p>
            <a:r>
              <a:rPr lang="en-GB" dirty="0"/>
              <a:t>Specialized strengthening programs: Develop position-specific and player-specific programs focused on hamstring, glute, and core strength, which are critical for preventing the most common injuries.</a:t>
            </a:r>
          </a:p>
        </p:txBody>
      </p:sp>
    </p:spTree>
    <p:extLst>
      <p:ext uri="{BB962C8B-B14F-4D97-AF65-F5344CB8AC3E}">
        <p14:creationId xmlns:p14="http://schemas.microsoft.com/office/powerpoint/2010/main" val="259824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83595-6B51-9226-2637-FFB18DA9E08A}"/>
              </a:ext>
            </a:extLst>
          </p:cNvPr>
          <p:cNvSpPr>
            <a:spLocks noGrp="1"/>
          </p:cNvSpPr>
          <p:nvPr>
            <p:ph type="title"/>
          </p:nvPr>
        </p:nvSpPr>
        <p:spPr/>
        <p:txBody>
          <a:bodyPr>
            <a:normAutofit fontScale="90000"/>
          </a:bodyPr>
          <a:lstStyle/>
          <a:p>
            <a:pPr algn="l"/>
            <a:r>
              <a:rPr lang="en-GB" dirty="0"/>
              <a:t>What we can to Leverage data for proactive interventions</a:t>
            </a:r>
            <a:br>
              <a:rPr lang="en-GB" dirty="0"/>
            </a:br>
            <a:endParaRPr lang="en-GB" dirty="0"/>
          </a:p>
        </p:txBody>
      </p:sp>
      <p:sp>
        <p:nvSpPr>
          <p:cNvPr id="3" name="Content Placeholder 2">
            <a:extLst>
              <a:ext uri="{FF2B5EF4-FFF2-40B4-BE49-F238E27FC236}">
                <a16:creationId xmlns:a16="http://schemas.microsoft.com/office/drawing/2014/main" id="{1937C966-8858-77A3-0E55-2BD1C941DF56}"/>
              </a:ext>
            </a:extLst>
          </p:cNvPr>
          <p:cNvSpPr>
            <a:spLocks noGrp="1"/>
          </p:cNvSpPr>
          <p:nvPr>
            <p:ph idx="1"/>
          </p:nvPr>
        </p:nvSpPr>
        <p:spPr/>
        <p:txBody>
          <a:bodyPr>
            <a:normAutofit/>
          </a:bodyPr>
          <a:lstStyle/>
          <a:p>
            <a:r>
              <a:rPr lang="en-GB" dirty="0"/>
              <a:t>Predictive analytics: Go beyond descriptive dashboards. Use machine learning models on this historical data to predict which players are most susceptible to a particular type of injury based on their load, biomechanics, and injury history.</a:t>
            </a:r>
          </a:p>
          <a:p>
            <a:r>
              <a:rPr lang="en-GB" dirty="0"/>
              <a:t>Create "muscle health" dashboards: Develop specific metrics for muscle fatigue and readiness, giving medical and coaching staff a daily overview of which players need rest or modified training. </a:t>
            </a:r>
          </a:p>
        </p:txBody>
      </p:sp>
    </p:spTree>
    <p:extLst>
      <p:ext uri="{BB962C8B-B14F-4D97-AF65-F5344CB8AC3E}">
        <p14:creationId xmlns:p14="http://schemas.microsoft.com/office/powerpoint/2010/main" val="1141232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4002-7C44-208A-A90B-02F93908E68A}"/>
              </a:ext>
            </a:extLst>
          </p:cNvPr>
          <p:cNvSpPr>
            <a:spLocks noGrp="1"/>
          </p:cNvSpPr>
          <p:nvPr>
            <p:ph type="title"/>
          </p:nvPr>
        </p:nvSpPr>
        <p:spPr/>
        <p:txBody>
          <a:bodyPr>
            <a:normAutofit/>
          </a:bodyPr>
          <a:lstStyle/>
          <a:p>
            <a:pPr algn="l"/>
            <a:r>
              <a:rPr lang="en-GB" dirty="0"/>
              <a:t>Clubs Strategic Management</a:t>
            </a:r>
          </a:p>
        </p:txBody>
      </p:sp>
      <p:sp>
        <p:nvSpPr>
          <p:cNvPr id="3" name="Content Placeholder 2">
            <a:extLst>
              <a:ext uri="{FF2B5EF4-FFF2-40B4-BE49-F238E27FC236}">
                <a16:creationId xmlns:a16="http://schemas.microsoft.com/office/drawing/2014/main" id="{1B2035FE-9192-4435-B9BD-6B4AF38CB2CE}"/>
              </a:ext>
            </a:extLst>
          </p:cNvPr>
          <p:cNvSpPr>
            <a:spLocks noGrp="1"/>
          </p:cNvSpPr>
          <p:nvPr>
            <p:ph idx="1"/>
          </p:nvPr>
        </p:nvSpPr>
        <p:spPr/>
        <p:txBody>
          <a:bodyPr>
            <a:normAutofit/>
          </a:bodyPr>
          <a:lstStyle/>
          <a:p>
            <a:r>
              <a:rPr lang="en-GB" dirty="0"/>
              <a:t>Plan to Combat Congestion: Accept that injuries, especially muscle injuries, are inevitable. Build stronger squads and rotate players strategically during peak periods (e.g., Boxing Days and European weeks) to reduce risk, rather than rushing to deal with injuries after they occur.</a:t>
            </a:r>
          </a:p>
          <a:p>
            <a:r>
              <a:rPr lang="en-GB" dirty="0"/>
              <a:t>Focus on Pre-Season: Use pre-season not only to improve fitness, but specifically to strengthen the team's ability to cope with injuries—building a solid foundation to withstand the demands of the season.</a:t>
            </a:r>
          </a:p>
        </p:txBody>
      </p:sp>
    </p:spTree>
    <p:extLst>
      <p:ext uri="{BB962C8B-B14F-4D97-AF65-F5344CB8AC3E}">
        <p14:creationId xmlns:p14="http://schemas.microsoft.com/office/powerpoint/2010/main" val="153082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64841-62BF-CFA3-514B-ABDB4B90CA44}"/>
              </a:ext>
            </a:extLst>
          </p:cNvPr>
          <p:cNvSpPr>
            <a:spLocks noGrp="1"/>
          </p:cNvSpPr>
          <p:nvPr>
            <p:ph type="title"/>
          </p:nvPr>
        </p:nvSpPr>
        <p:spPr>
          <a:xfrm>
            <a:off x="1425677" y="2777066"/>
            <a:ext cx="9379975" cy="1755605"/>
          </a:xfrm>
        </p:spPr>
        <p:txBody>
          <a:bodyPr>
            <a:normAutofit/>
          </a:bodyPr>
          <a:lstStyle/>
          <a:p>
            <a:r>
              <a:rPr lang="en-GB" sz="8800" dirty="0"/>
              <a:t>Thanks</a:t>
            </a:r>
          </a:p>
        </p:txBody>
      </p:sp>
    </p:spTree>
    <p:extLst>
      <p:ext uri="{BB962C8B-B14F-4D97-AF65-F5344CB8AC3E}">
        <p14:creationId xmlns:p14="http://schemas.microsoft.com/office/powerpoint/2010/main" val="42017572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webextensions/webextension1.xml><?xml version="1.0" encoding="utf-8"?>
<we:webextension xmlns:we="http://schemas.microsoft.com/office/webextensions/webextension/2010/11" id="{4289421E-0ADC-4B13-8A57-73BED07663C8}">
  <we:reference id="wa200003233" version="2.0.0.3" store="en-GB" storeType="OMEX"/>
  <we:alternateReferences>
    <we:reference id="WA200003233" version="2.0.0.3" store="WA200003233" storeType="OMEX"/>
  </we:alternateReferences>
  <we:properties>
    <we:property name="pptInsertionSessionID" value="&quot;E05216CF-7343-4771-80FD-71E50F9B1F1A&quot;"/>
    <we:property name="reportUrl" value="&quot;/groups/me/reports/01a471d8-7671-4a21-9e9b-cc8a4603f2f9/f27fdf67f60b49e27411?experience=power-bi&quot;"/>
    <we:property name="reportName" value="&quot;Injuries&quot;"/>
    <we:property name="reportState" value="&quot;CONNECTED&quot;"/>
    <we:property name="embedUrl" value="&quot;/reportEmbed?reportId=01a471d8-7671-4a21-9e9b-cc8a4603f2f9&amp;config=eyJjbHVzdGVyVXJsIjoiaHR0cHM6Ly9XQUJJLU5PUlRILUVVUk9QRS1yZWRpcmVjdC5hbmFseXNpcy53aW5kb3dzLm5ldCIsImVtYmVkRmVhdHVyZXMiOnsidXNhZ2VNZXRyaWNzVk5leHQiOnRydWV9fQ%3D%3D&amp;disableSensitivityBanner=true&amp;storytellingChangeViewModeShortcutKeys=true&quot;"/>
    <we:property name="pageName" value="&quot;f27fdf67f60b49e27411&quot;"/>
    <we:property name="pageDisplayName" value="&quot;Page 1&quot;"/>
    <we:property name="datasetId" value="&quot;70a27771-468b-4182-ab0a-8b07857e3b39&quot;"/>
    <we:property name="backgroundColor" value="&quot;#FFFFFF&quot;"/>
    <we:property name="bookmark" value="&quot;H4sIAAAAAAAAA+1aW0/jOBT+K6O88FJWdu7hDQqjXS0aoYFld7VCyHFOipk0iRyXmS7iv++xk9J7S1FL250iHhrbOT7X7zu1+2wloioz1v/CumCdWGdF8a3L5LdP1GpZeT0WUNv3mB0EjIcxodxNIo6zRalEkVfWybOlmOyAuhVVj2VaEA7+c9eyWJZdsY5+SllWQcsqQVZFzjLxL9SLcUrJHry0LPhRZoVkWuS1Ygq02Cdcjs+oAv3FwR0ZV+IJroGrejS1gzRJ/SD1SexGYAcu1WpX9QKj2cwlWrTZvl3kiokct9FjEHM35qnjOqkbBjSK4yg2MkSmmiVx/+JHKdE6tLlfaue0UddOIQVnmWWskFDVSj9b7SLrdc2ni7Hx66InOXyF1EzlSqg+StJRAHkv8seeFOi0F/TKlSzQZ2bajPfvJTB0oZl8KL638VFBYp2Ql9arSqfJE8s5jm5Un46O831XVBXuNK3OHY5UIu9kTaSHTr+ptawywUHqPIofMWDGvV3APNIfEqaY8XJZb6j31/NFYqbBBOHZuhQYmFr2Lct6WuzRGasEP0KN8O9O61VnDWr+OJIXZnllttholFADXEBth2Pd+EFIojBwoyShyzNrJIz1OqP3oCTslvVZFl3zQlO7Ja6cq2fLqv2OkWlZfz6AhMb4PBHqNT+6JZOimnz6XeSJ2fESUqWnfhXodskf+pfwBNm0617np6cGvrpF0XW1Gzcvcf9gEdqo/dkY/CrDGotBin65TzSG6LUjuljnOPhpOKCnGwusv4FJM/BVdB7UnOSiUeRfDlJrsro+3CkLc3KTLloZeE47HQkdNsizi82hUsL6Y6D0uZc3bEHfgVEZckP7gUk1BlP4ViETkGd9U0LnQg4Yibbmxfx/nhMaVGbibEOPtad+Fm/UoG8TJ4oibJ1imwFl4MQeP4D+AfT3MqV3GvSnWtED6h9Qf0uo7/EUHJYGgf6mmTrgham/d6hPD6iPqO8dUH+XUX+lVn+nNF8zX1WcKczfmZQ1E57/MniwI5FCjPqJ6QIcl9g+j5IwDG3HAxLF3hRd1Eo8W8x1vJinLPYhSH38WhFGiR5vzmlnTrcGeV8nz01RflnGMvNZY0QGPv2moNsuejlCKCUNTo6mrsnl/T4x/bgamVZ2WCXeO0ChFCv1sPZkD7szlr+tyfyAQ9zAA0qDMLJZGlLqxVhtwfzOrqnJyCGOwz2fsyCkYcwJpHxYkzvc973JoRO92lxkfG20NCxel2yG3BktmH5diS4cYS/mHhN6TPwbQk7M/5GRe4Ozf+RC1Ykyq1Nba16MG7XO+44O5LX1U1cew7z4oAw5zQ2nDPPgjcdDm0mY5WnhY2aMpcXY+4vVd7apvk1s75hExzaZUL++uDLAN+cerFKI7OfNLemCy7ClrsJyyZNVBA2UptGkoDfdzYH6DpCP3s699UxlY4U8l182dUU4unnNLCGNuRf7CbFjSsKQeZw585lla9yxEjKsj0owQ9fMJFN1MMUkW0CQdZppqpSSpWZunjLHrDow5joZc3bC7Athrq79gS+3xpcjwfpwuhzZu2ZLbrsuuJR4ThCHhEAUcLIKW+7FeeVScORMJrv/3X6hzXVC2zxIQpf4MfPCNPLjxInpPoRzzYe4+xHPxUbXAY3Bd32bEkqJz4gdQOit9GO3bQV0MD1p2HtO3/Yjmgssrhn1ZXbvVfRUVTIOVyyHGWyLAWR5AskSdjO/CbaG9P0fb4caNYssAAA=&quot;"/>
    <we:property name="initialStateBookmark" value="&quot;H4sIAAAAAAAAA+1aW0/jOBT+K6O88FJWdu7hjdtoVzAMApbd1QohxzkpZtIkclxmOoj/vsdOSu+UohbanSIeGts5PpfP3+fafbQSUZUZ652xDlh71kFRfOsw+e0TtVpW3rR9/XryZf/i5PZs/8sxNhelEkVeWXuPlmKyDepaVF2WaQvY+O9Ny2JZds7a+illWQUtqwRZFTnLxE+oB2OXkl14alnwo8wKybTJS8UUaLMPOByfcW76m4MzMq7EA1wCV3VragdpkvpB6pPYjcAOXKr9reoBxrOpQ7RpM/1hkSsmcpxGt0HM3ZinjuukbhjQKI6j2NgQmWqGxL3jH6XE6DDmXqmzcoi+tgspOMssE4WEqnb60Tossm7HfDoeab8supLDBaSmK1dC9dCSTj/IW5Hfd6XApD1hVs5lgTkz3aa9dyuBYQpN513x/RAfFSTWHnlqPbu0nzywnGPrSv1p6zrfdkRV4UyT7txgSyXydtZUepD0q9rLKhMcpMZRfI8FM+ntAOJIf0iYYibLZT2hnl/3F4npBlOER+tUYGFq29cs62qzOwesEnwHPcK/G+1XjRr0/H4IF2Z4ZaZYaZXQAxxAbYdT7vpBSKIwcKMkofORNVTGepzxu78k7Jb1WRYd80KzaEscOdPPllXnHSvTsv66AwlN8Hki1DM+OiWTohp/OhF5YmY8hVTprt8Fpl3yu94pPEA2mbrn/smufq6u0XS92k2a56S/Pwhj1PlsAn62YY3UIMW83CaaQ/TYIV+sI2z8NGjQ3U0E1j/ApGm4EO07NQNcNIr80z60xlfXuyflRUyuMkULE89+uy2hzfo4O14dKyWsN0JKn7t5oxb0DRyVoTYc3jGpRmgK3ypkAvKgZ5bQkZB9RaKtWTX/n2NCk8pUnm3ksc7Ur5KNmvRt4kRRZPtebDOgDJzY41vS35L+RkJ6rUl/Yiu6Zf0t638Q63s8BYelQaC/aaYOeGHqbxzr0y3rI+t7W9ZfZ9ZfaKu/Vp4vWa8qzhTid6pkTaXnvw0frEmlkKN+YbkAxyW2z6MkDEPb8YBEsTchF7UTjxZzHS/mKYt9CFIfv1aEUaLbmwPaqd2tPu5r8FwV5dk8lZmtGkM28OkPBZ3DopsjhVLS8OQwdA2WN/vE9P3WyKSzg1XivYEUSrHQHtYe38OuTeSv22S+wyFu4AGlQRjZLA0p9WJcbcHsnV2zJiOHOA73fM6CkIYxJ5DywZpc433fqxI6tlebyYzPGy1Ni5clm2J3yhZMv65EB3ZwL+buErpL/CtC9sz/jrF7hb1/5kLVQJm2U1sqLkaDWuZ9RxvyOvqJK48BLt4JIfu50ZQBDl55PLQawMyHhY/IGIHFyPsvu+98pPs2sb1dEu3aZMz9+uLKEN+Me7BKIbMfNbekL1yGzU0VLpc8WcRQ32kajRt61d0cqO8A+fDt3GvPVFa2kGfqy6quCIcnr5UlpDH3Yj8hdkxJGDKPM2e2snyYdizEDMuTEkTokpVkYh1MKMkHMMgywzSrlJK5Ya5eMkei2irmMhVzOmA2RTAX936rlx+ml0PFene5HJq7Vktuuy64lHhOEIeEQBRwsohabsR55Vxy5Ewm6//d/sWYa0DbPEhCl/gx88I08uPEiekmlHPJh7ibUc+Xg64LGoPv+jYllBKfETuA0Fvox24fVdB+93hgbzl924xqvhBxrahP0/deRVdVJeNwznKYorZYQJYnkMxRN/Ob4FoLMXcizubJof6lsDWQ+/8AAASW07QsAAA=&quot;"/>
    <we:property name="isFooterCollapsed" value="true"/>
    <we:property name="isFiltersActionButtonVisible" value="true"/>
    <we:property name="isVisualContainerHeaderHidden" value="false"/>
    <we:property name="reportEmbeddedTime" value="&quot;2025-09-19T23:52:12.785Z&quot;"/>
    <we:property name="creatorTenantId" value="&quot;a2c31985-cc3b-4e19-8fa2-59fa488f0c27&quot;"/>
    <we:property name="creatorUserId" value="&quot;10032003F8A7C633&quot;"/>
    <we:property name="creatorSessionId" value="&quot;5a6d91e0-c403-49f4-9540-5ea46de2f17f&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TM02900743[[fn=Organic]]</Template>
  <TotalTime>171</TotalTime>
  <Words>1235</Words>
  <Application>Microsoft Office PowerPoint</Application>
  <PresentationFormat>Widescreen</PresentationFormat>
  <Paragraphs>60</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Garamond</vt:lpstr>
      <vt:lpstr>Organic</vt:lpstr>
      <vt:lpstr>Football Injuries</vt:lpstr>
      <vt:lpstr>AGENDA</vt:lpstr>
      <vt:lpstr>PowerPoint Presentation</vt:lpstr>
      <vt:lpstr>Executive Summary</vt:lpstr>
      <vt:lpstr>Key Insights &amp; Analysis</vt:lpstr>
      <vt:lpstr>Dramatic Reduction in Injury Severity</vt:lpstr>
      <vt:lpstr>High Volume of Injuries with Low Severity</vt:lpstr>
      <vt:lpstr>Muscular and Soft-Tissue Injuries are the Primary Problem </vt:lpstr>
      <vt:lpstr>The Impact of Modern Events</vt:lpstr>
      <vt:lpstr>Injuries Peak (2005-2007)</vt:lpstr>
      <vt:lpstr>Extreme Fixture Congestion &amp; Accumulated Fatigue</vt:lpstr>
      <vt:lpstr>The Tactical and Physical Revolution</vt:lpstr>
      <vt:lpstr>Limits of Sports Science in these years</vt:lpstr>
      <vt:lpstr>Recommendations</vt:lpstr>
      <vt:lpstr>Why Muscle Injury Prevention Methods Are on the Rise</vt:lpstr>
      <vt:lpstr>What we can to Leverage data for proactive interventions </vt:lpstr>
      <vt:lpstr>Clubs Strategic Management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يوسف وائل بدوى الغنيمى</dc:creator>
  <cp:lastModifiedBy>يوسف وائل بدوى الغنيمى</cp:lastModifiedBy>
  <cp:revision>1</cp:revision>
  <dcterms:created xsi:type="dcterms:W3CDTF">2025-09-19T23:33:03Z</dcterms:created>
  <dcterms:modified xsi:type="dcterms:W3CDTF">2025-09-20T02:25:02Z</dcterms:modified>
</cp:coreProperties>
</file>